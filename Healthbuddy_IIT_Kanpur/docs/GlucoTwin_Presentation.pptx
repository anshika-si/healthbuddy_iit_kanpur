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343B"/>
                </a:solidFill>
                <a:latin typeface="Calibri"/>
              </a:rPr>
              <a:t>Ablation: AUROC, 5-fold patient-grouped CV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spPr>
            <a:solidFill>
              <a:srgbClr val="7D92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80-4794-84D8-5DBBE7513FE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80-4794-84D8-5DBBE7513FE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280-4794-84D8-5DBBE7513FE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280-4794-84D8-5DBBE7513FE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280-4794-84D8-5DBBE7513FE5}"/>
              </c:ext>
            </c:extLst>
          </c:dPt>
          <c:dPt>
            <c:idx val="5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80-4794-84D8-5DBBE7513FE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34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Trend-arrow rule</c:v>
                </c:pt>
                <c:pt idx="1">
                  <c:v>CGM only</c:v>
                </c:pt>
                <c:pt idx="2">
                  <c:v>CGM + meal log</c:v>
                </c:pt>
                <c:pt idx="3">
                  <c:v>CGM + all wearables</c:v>
                </c:pt>
                <c:pt idx="4">
                  <c:v>Wearables + EHR fusion</c:v>
                </c:pt>
                <c:pt idx="5">
                  <c:v>GlucoTwin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0.665</c:v>
                </c:pt>
                <c:pt idx="1">
                  <c:v>0.916</c:v>
                </c:pt>
                <c:pt idx="2">
                  <c:v>0.927</c:v>
                </c:pt>
                <c:pt idx="3">
                  <c:v>0.924</c:v>
                </c:pt>
                <c:pt idx="4">
                  <c:v>0.928</c:v>
                </c:pt>
                <c:pt idx="5">
                  <c:v>0.934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280-4794-84D8-5DBBE7513F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234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t"/>
        <c:majorGridlines>
          <c:spPr>
            <a:ln w="6350" cap="flat">
              <a:solidFill>
                <a:srgbClr val="E5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D92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63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One-line pitch: GlucoTwin is a personalised virtual patient for Type 2 diabetes that fuses EHR and wearable data to predict a glucose spike two hours ahead, and lets a doctor test interventions on the twin before advising the real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for 101 million and 136 million: ICMR-INDIAB national study, Lancet Diabetes &amp; Endocrinology, 2023. Frame the gap: we measure HbA1c every few months, but the damage happens in daily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we narrowed to one outcome. The 180 mg/dL threshold is the ADA post-prandial target. We only predict while glucose is still in range, which is harder than predicting whether it is already high, and it is the clinically useful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stages. Emphasise the hybrid: pure deep learning needs months of data per person; our twin works from one onboarding week and every parameter means something to a clinician.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credibility point: the simulator hides each patient's true insulin sensitivity. The twin never sees it and has to infer it, exactly as with a real patient. We also deliberately made the data messy: missing meal logs, logging error, sensor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layers left to right: sources, harmonisation, twin engine, fusion and prediction, dashboard. Point out the nightly recalibration loop. Full two-page diagram is in the repo as Architecture_Diagram.pdf.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digital twin in the literal sense: a small set of parameters that describe this person. The scatter shows we recover the hidden physiology from observable data alone. Estimates are shrunk to population priors when data are sparse.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honest story of the ablation: stacking more raw streams helps a little (CGM only 0.916, fusion 0.928), but routing them through the physiology twin gives the biggest gain (0.934). The twin encodes interactions such as sleep loss times carb sensitivity that a tree model struggles to find from raw columns. A standard CGM trend-arrow rule scores 0.665. Also mention calibration and the conformal 80% interval which achieves 80%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digital twin carries the most weight because it compresses EHR, sleep and meal routine into one physiologically meaningful number. Clinicians do not have to trust a black box: they see the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makes it a twin rather than just a predictor: counterfactuals. For this sleep-sensitive patient, one short night pushes the peak far above target, while a smaller portion plus a short walk keeps them in range. The same sliders are live in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in the video: drag the clinic clock, watch a patient move up the triage list before their spike, open the reasons, and use the what-if sliders.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limits builds trust with a clinical jury. The key limitation: on synthetic data we can validate the method but not clinical accuracy. The obvious next step is real CGM plus wearable data under proper ethics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one-liner and the repo link.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66928" cy="566928"/>
          </a:xfrm>
          <a:prstGeom prst="ellipse">
            <a:avLst/>
          </a:prstGeom>
          <a:solidFill>
            <a:srgbClr val="12343B"/>
          </a:solidFill>
          <a:ln w="38100">
            <a:solidFill>
              <a:srgbClr val="4DB8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502920"/>
            <a:ext cx="566928" cy="566928"/>
          </a:xfrm>
          <a:prstGeom prst="ellipse">
            <a:avLst/>
          </a:prstGeom>
          <a:ln w="38100">
            <a:solidFill>
              <a:srgbClr val="FF7A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2 diabetes digital twin that warns of a glucose spike a median 90 minutes before it happens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dirty="0" err="1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Healthbuddy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Kanpur</a:t>
            </a:r>
          </a:p>
          <a:p>
            <a:pPr marL="0" indent="0">
              <a:buNone/>
            </a:pPr>
            <a:r>
              <a:rPr lang="en-US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Digital Twin Challenge 2026 · Phase 1 submission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in India is still reactive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HbA1c tests average away the daily spikes that drive complications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D8EEEC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living with diabetes (ICMR-INDIAB, 2023)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D8EEEC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with prediabetes (same study)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BE3DA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months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gap between HbA1c checks, blind to daily excursions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Post-meal glucose spikes are common with carbohydrate-heavy Indian meals and late dinners.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sleep and stress quietly raise insulin resistance the next day, and nobody connects the dots.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CGMs show where glucose is now. Doctors need to know where it is going, and what would change it.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predict the next post-meal spike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condition, one outcome, done well, as the challenge brief asks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Type 2 diabetes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CGM glucose &gt; 180 mg/dL (ADA post-meal target)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 any time in the next 2 hours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predicted while glucose is still below 180, so every alert is genuine early warning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Refreshed every 15 minutes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73168" y="1545336"/>
            <a:ext cx="548640" cy="54864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869" y="1666037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0" y="143560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737360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timely nudge: “a 15-minute walk after lunch will likely keep you in range.”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17720" y="2441448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73168" y="2660904"/>
            <a:ext cx="548640" cy="54864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869" y="2781605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0" y="255117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2852928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triage list of who is heading out of range, why, and what would help.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17720" y="3557016"/>
            <a:ext cx="4069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73168" y="3776472"/>
            <a:ext cx="548640" cy="548640"/>
          </a:xfrm>
          <a:prstGeom prst="ellipse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69" y="3897173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86400" y="3666744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programme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0" y="3968496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time-in-range and targets coaching where it moves outcomes.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GlucoTwin: fuse, simulate, predict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of a personalised physiology model and machine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6F6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rgbClr val="C9971B"/>
          </a:solidFill>
          <a:ln w="12700">
            <a:solidFill>
              <a:srgbClr val="C9971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17611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Fuse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71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EHR (labs, meds, genetics) and live wearables (CGM, HR, HRV, sleep, steps, meals) are aligned on one 5-minute timeline.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6F6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00200"/>
            <a:ext cx="731520" cy="7315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654" y="17611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Simulate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971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per-patient twin learns six physiological parameters in one week, then simulates the next 2 hours and answers what-if questions.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3F6F6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600200"/>
            <a:ext cx="731520" cy="73152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574" y="176113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Predict &amp; explain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971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combines raw signals with the twin's simulation, outputs a calibrated risk and peak range, and shows the top reasons.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streams, inside the sandbox rules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synthetic cohort; no real patient data touched (DPDP Act / HIPAA)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D8EEEC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159197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/ historical EHR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synthetic Indian T2D patients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diagnoses, HbA1c, fasting glucose, lipids, eGFR, BP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and TCF7L2 genotype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FHIR-style export, LOINC / SNOMED codes; Synthea adapter included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3258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8EDCF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481328"/>
            <a:ext cx="502920" cy="502920"/>
          </a:xfrm>
          <a:prstGeom prst="ellipse">
            <a:avLst/>
          </a:prstGeom>
          <a:solidFill>
            <a:srgbClr val="C9971B"/>
          </a:solidFill>
          <a:ln w="12700">
            <a:solidFill>
              <a:srgbClr val="C9971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15919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/ real-time wearables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057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glucose every 5 minutes, 14 days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HRV, steps, sleep stages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Meal-log app; only ~70% of meals logged, with estimation error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Physiology: sleep loss, walking, stress, dawn effect, rice vs wheat diets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483,840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rows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56032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56,744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256032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points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66344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466344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features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3840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time-in-range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pic>
        <p:nvPicPr>
          <p:cNvPr id="3" name="Image 0" descr="/home/claude/deck/arch-1.png"/>
          <p:cNvPicPr>
            <a:picLocks noChangeAspect="1"/>
          </p:cNvPicPr>
          <p:nvPr/>
        </p:nvPicPr>
        <p:blipFill>
          <a:blip r:embed="rId3"/>
          <a:srcRect l="-7772" r="-7772"/>
          <a:stretch/>
        </p:blipFill>
        <p:spPr>
          <a:xfrm>
            <a:off x="457200" y="868680"/>
            <a:ext cx="8229600" cy="3886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 learns each patient's physiology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interpretable parameters, calibrated from one onboarding week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 glucose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glucose settles overnight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751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 sensitivity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 rise per gram of carbs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8716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peak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from meal to peak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9923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rate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glucose returns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5112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sensitivity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rise per hour of lost sleep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233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benefit</a:t>
            </a:r>
            <a:endParaRPr lang="en-US" sz="1350" dirty="0"/>
          </a:p>
          <a:p>
            <a:pPr marL="0" indent="0">
              <a:buNone/>
            </a:pPr>
            <a:r>
              <a:rPr lang="en-US" sz="11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cut by a post-meal walk</a:t>
            </a:r>
            <a:endParaRPr lang="en-US" sz="1350" dirty="0"/>
          </a:p>
        </p:txBody>
      </p:sp>
      <p:pic>
        <p:nvPicPr>
          <p:cNvPr id="11" name="Image 0" descr="/home/claude/repo/outputs/figures/twin_recovery.png"/>
          <p:cNvPicPr>
            <a:picLocks noChangeAspect="1"/>
          </p:cNvPicPr>
          <p:nvPr/>
        </p:nvPicPr>
        <p:blipFill>
          <a:blip r:embed="rId3"/>
          <a:srcRect t="-167" b="-167"/>
          <a:stretch/>
        </p:blipFill>
        <p:spPr>
          <a:xfrm>
            <a:off x="4526280" y="1325880"/>
            <a:ext cx="4160520" cy="3200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26280" y="45262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the twin's carb sensitivity tracks the hidden true insulin sensitivity (r = -0.87).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unseen patients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split: 29 test patients never seen in training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01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762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spikes flagged in advance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266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02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warning time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770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mg/dL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352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2-h peak (vs 24 naive)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329184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comes with its reasons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attributions, grouped by data stream and shown per prediction</a:t>
            </a:r>
            <a:endParaRPr lang="en-US" sz="1400" dirty="0"/>
          </a:p>
        </p:txBody>
      </p:sp>
      <p:pic>
        <p:nvPicPr>
          <p:cNvPr id="4" name="Image 0" descr="/home/claude/repo/outputs/figures/shap_by_stream.png"/>
          <p:cNvPicPr>
            <a:picLocks noChangeAspect="1"/>
          </p:cNvPicPr>
          <p:nvPr/>
        </p:nvPicPr>
        <p:blipFill>
          <a:blip r:embed="rId3"/>
          <a:srcRect t="-1282" b="-1282"/>
          <a:stretch/>
        </p:blipFill>
        <p:spPr>
          <a:xfrm>
            <a:off x="457200" y="1325880"/>
            <a:ext cx="47548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32588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Fatima, 13:00: top reasons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8745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Twin-simulated peak: 252 mg/dL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lunch window (time of day)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personal basal glucose: 171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chance of a meal in next 2 h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lunch was never logged, yet she peaked at 259, inside the predicted 193–275 range. The twin knew her routine.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twin before advising the patient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85 g rice dinner, simulated on patient P0045's twin</a:t>
            </a:r>
            <a:endParaRPr lang="en-US" sz="1400" dirty="0"/>
          </a:p>
        </p:txBody>
      </p:sp>
      <p:pic>
        <p:nvPicPr>
          <p:cNvPr id="4" name="Image 0" descr="/home/claude/repo/outputs/figures/whati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539496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3716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mg/dL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7922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· Usual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1762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mg/dL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5968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· After a 4.5 h night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98094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mg/dL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· 15-min walk after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78561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mg/dL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· Smaller portion + walk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clinician dashboard</a:t>
            </a:r>
            <a:endParaRPr lang="en-US" sz="2800" dirty="0"/>
          </a:p>
        </p:txBody>
      </p:sp>
      <p:pic>
        <p:nvPicPr>
          <p:cNvPr id="3" name="Image 0" descr="/home/claude/deck/dash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6126480" cy="34886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914400"/>
            <a:ext cx="1965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list re-sorts by live risk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 CGM with the twin's forecast and peak range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reasons and one-tap patient nudge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sliders on the twin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the day to see alerts arrive in time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4805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works offline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proves, what it doesn't, what's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FBE3DA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30759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metrics show the method works, not clinical accuracy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and twin share a physiological family, which flatters results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a CGM; meal logging is imperfect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medical device; decision support only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3977640" cy="3566160"/>
          </a:xfrm>
          <a:prstGeom prst="roundRect">
            <a:avLst>
              <a:gd name="adj" fmla="val 2051"/>
            </a:avLst>
          </a:prstGeom>
          <a:solidFill>
            <a:srgbClr val="D8EEEC"/>
          </a:solidFill>
          <a:ln w="9525">
            <a:solidFill>
              <a:srgbClr val="DCE5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207008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30759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261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open CGM + wearable datasets, then a prospective pilot with a diabetologist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FHIR R4 integration for hospital records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hypoglycaemia risk for insulin and sulfonylurea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 once multi-month data exists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66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nudges via WhatsApp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9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· Digital Twin Challenge 2026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sees the spike coming, explains why, and shows what would prevent it.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· LightGBM · SHAP · scikit-learn · pandas · HTML/SVG dashboard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 generator, models, dashboard: [GitHub repository link]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under the MIT License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 - Anshika Singh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FC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– singha23@iitk.ac.in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1623</Words>
  <Application>Microsoft Office PowerPoint</Application>
  <PresentationFormat>On-screen Show (16:9)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- Digital Twin Challenge 2026</dc:title>
  <dc:subject>PptxGenJS Presentation</dc:subject>
  <dc:creator>[TEAM NAME]</dc:creator>
  <cp:lastModifiedBy>Saket Kumar Gupta</cp:lastModifiedBy>
  <cp:revision>2</cp:revision>
  <dcterms:created xsi:type="dcterms:W3CDTF">2026-09-23T05:33:31Z</dcterms:created>
  <dcterms:modified xsi:type="dcterms:W3CDTF">2026-09-23T06:24:01Z</dcterms:modified>
</cp:coreProperties>
</file>